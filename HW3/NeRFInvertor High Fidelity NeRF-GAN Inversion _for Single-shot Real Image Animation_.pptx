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89" r:id="rId11"/>
    <p:sldId id="263" r:id="rId12"/>
    <p:sldId id="290" r:id="rId13"/>
    <p:sldId id="271" r:id="rId14"/>
    <p:sldId id="275" r:id="rId15"/>
    <p:sldId id="291" r:id="rId16"/>
    <p:sldId id="279" r:id="rId17"/>
    <p:sldId id="283" r:id="rId18"/>
    <p:sldId id="284" r:id="rId19"/>
    <p:sldId id="285" r:id="rId20"/>
    <p:sldId id="286" r:id="rId21"/>
    <p:sldId id="287" r:id="rId22"/>
    <p:sldId id="292" r:id="rId23"/>
    <p:sldId id="298" r:id="rId24"/>
    <p:sldId id="299" r:id="rId25"/>
    <p:sldId id="304" r:id="rId26"/>
    <p:sldId id="297" r:id="rId27"/>
    <p:sldId id="302" r:id="rId28"/>
    <p:sldId id="303" r:id="rId29"/>
    <p:sldId id="293" r:id="rId30"/>
    <p:sldId id="301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ngxuan_zho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A9D3F-61F8-E4E9-1F5B-20757791211A}" v="1" dt="2025-03-04T03:04:49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d93143bf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d93143bf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d93143bf76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d93143bf76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93143bf76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d93143bf76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d93143bf76_0_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d93143bf76_0_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d94bac031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d94bac031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d94bac0313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d94bac0313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93143bf76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d93143bf76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d93143bf76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d93143bf76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93143bf76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d93143bf76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93143bf76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d93143bf76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93143bf76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d93143bf76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d93143bf76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d93143bf76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2504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200150"/>
            <a:ext cx="4032504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5293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50"/>
            </a:lvl1pPr>
          </a:lstStyle>
          <a:p>
            <a:pPr lvl="0"/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50"/>
            </a:lvl1pPr>
          </a:lstStyle>
          <a:p>
            <a:pPr lvl="0"/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5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lvl1pPr marL="0" lvl="0" indent="0" algn="ctr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3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7175" lvl="0" indent="-25717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57530" lvl="1" indent="-213995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21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lvl="2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•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lvl="3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–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43050" lvl="4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lvl="5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8850" lvl="6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1750" lvl="7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4650" lvl="8" indent="-171450" algn="l" defTabSz="685800" eaLnBrk="1" fontAlgn="base" latinLnBrk="0" hangingPunct="1">
        <a:lnSpc>
          <a:spcPct val="100000"/>
        </a:lnSpc>
        <a:spcBef>
          <a:spcPct val="15000"/>
        </a:spcBef>
        <a:spcAft>
          <a:spcPct val="0"/>
        </a:spcAft>
        <a:buChar char="»"/>
        <a:defRPr sz="15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135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6pPr>
      <a:lvl7pPr marL="2057400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7pPr>
      <a:lvl8pPr marL="2400300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8pPr>
      <a:lvl9pPr marL="2743200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>
            <a:spLocks noGrp="1"/>
          </p:cNvSpPr>
          <p:nvPr>
            <p:ph type="title"/>
          </p:nvPr>
        </p:nvSpPr>
        <p:spPr>
          <a:xfrm>
            <a:off x="1122045" y="1576070"/>
            <a:ext cx="6899275" cy="1347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tx1"/>
                </a:solidFill>
                <a:cs typeface="+mj-lt"/>
              </a:rPr>
              <a:t>NeRFInvertor: High Fidelity NeRF-GAN Inversion </a:t>
            </a:r>
            <a:br>
              <a:rPr lang="en-GB" sz="2400">
                <a:solidFill>
                  <a:schemeClr val="tx1"/>
                </a:solidFill>
                <a:cs typeface="+mj-lt"/>
              </a:rPr>
            </a:br>
            <a:br>
              <a:rPr lang="en-GB" sz="2400">
                <a:solidFill>
                  <a:schemeClr val="tx1"/>
                </a:solidFill>
                <a:cs typeface="+mj-lt"/>
              </a:rPr>
            </a:br>
            <a:r>
              <a:rPr lang="en-GB" sz="2400">
                <a:solidFill>
                  <a:schemeClr val="tx1"/>
                </a:solidFill>
                <a:cs typeface="+mj-lt"/>
              </a:rPr>
              <a:t>for Single-shot Real Image Animation</a:t>
            </a:r>
            <a:br>
              <a:rPr lang="en-GB" sz="2400">
                <a:solidFill>
                  <a:schemeClr val="tx1"/>
                </a:solidFill>
                <a:cs typeface="+mj-lt"/>
              </a:rPr>
            </a:br>
            <a:br>
              <a:rPr lang="en-GB" sz="2400">
                <a:solidFill>
                  <a:schemeClr val="tx1"/>
                </a:solidFill>
                <a:cs typeface="+mj-lt"/>
              </a:rPr>
            </a:br>
            <a:endParaRPr lang="en-GB" sz="1200">
              <a:solidFill>
                <a:schemeClr val="tx1"/>
              </a:solidFill>
              <a:cs typeface="+mj-lt"/>
            </a:endParaRPr>
          </a:p>
        </p:txBody>
      </p:sp>
      <p:sp>
        <p:nvSpPr>
          <p:cNvPr id="347" name="Google Shape;347;p42"/>
          <p:cNvSpPr txBox="1">
            <a:spLocks noGrp="1"/>
          </p:cNvSpPr>
          <p:nvPr>
            <p:ph type="subTitle" idx="1"/>
          </p:nvPr>
        </p:nvSpPr>
        <p:spPr>
          <a:xfrm>
            <a:off x="2053490" y="4404627"/>
            <a:ext cx="5041398" cy="233580"/>
          </a:xfrm>
          <a:prstGeom prst="rect">
            <a:avLst/>
          </a:prstGeom>
        </p:spPr>
        <p:txBody>
          <a:bodyPr spcFirstLastPara="1" wrap="square" lIns="13715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/>
              <a:t>Presented By:</a:t>
            </a:r>
            <a:r>
              <a:rPr lang="en-US" altLang="en-GB" sz="1400"/>
              <a:t> </a:t>
            </a:r>
            <a:r>
              <a:rPr lang="en-US" altLang="en-GB" sz="1400" err="1"/>
              <a:t>Jingjie</a:t>
            </a:r>
            <a:r>
              <a:rPr lang="en-US" altLang="en-GB" sz="1400"/>
              <a:t> Qian, Malia Howe, </a:t>
            </a:r>
            <a:r>
              <a:rPr lang="en-US" altLang="en-GB" sz="1400" err="1"/>
              <a:t>Rongxuan</a:t>
            </a:r>
            <a:r>
              <a:rPr lang="en-US" altLang="en-GB" sz="1400"/>
              <a:t> Zhou</a:t>
            </a:r>
            <a:endParaRPr lang="en-US" altLang="en-GB" sz="1400"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>
            <a:spLocks noGrp="1"/>
          </p:cNvSpPr>
          <p:nvPr>
            <p:ph type="title"/>
          </p:nvPr>
        </p:nvSpPr>
        <p:spPr>
          <a:xfrm>
            <a:off x="1102995" y="1685925"/>
            <a:ext cx="1899285" cy="12820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tx1"/>
                </a:solidFill>
              </a:rPr>
              <a:t>Contents</a:t>
            </a:r>
          </a:p>
        </p:txBody>
      </p:sp>
      <p:sp>
        <p:nvSpPr>
          <p:cNvPr id="388" name="Google Shape;388;p43"/>
          <p:cNvSpPr txBox="1">
            <a:spLocks noGrp="1"/>
          </p:cNvSpPr>
          <p:nvPr>
            <p:ph type="subTitle" idx="2"/>
          </p:nvPr>
        </p:nvSpPr>
        <p:spPr>
          <a:xfrm>
            <a:off x="4651375" y="617855"/>
            <a:ext cx="3298190" cy="39084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/>
              <a:t>01. </a:t>
            </a:r>
            <a:r>
              <a:rPr lang="en-GB" sz="2000"/>
              <a:t>Motivations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en-GB" sz="2000"/>
              <a:t>02. </a:t>
            </a:r>
            <a:r>
              <a:rPr lang="en-GB" sz="2000"/>
              <a:t>Data Used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GB" sz="20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en-GB" sz="2000"/>
              <a:t>03. </a:t>
            </a:r>
            <a:r>
              <a:rPr lang="en-GB" sz="2000"/>
              <a:t>Key Insights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GB" sz="20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en-GB" sz="2000"/>
              <a:t>04. </a:t>
            </a:r>
            <a:r>
              <a:rPr lang="en-GB" sz="2000"/>
              <a:t>Visualizations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GB" sz="20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en-GB" sz="2000"/>
              <a:t>05. </a:t>
            </a:r>
            <a:r>
              <a:rPr lang="en-GB" sz="2000"/>
              <a:t>What We Learned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GB" sz="2000"/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altLang="en-GB" sz="2000"/>
              <a:t>06. </a:t>
            </a:r>
            <a:r>
              <a:rPr lang="en-GB" sz="2000"/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>
            <a:spLocks noGrp="1"/>
          </p:cNvSpPr>
          <p:nvPr>
            <p:ph type="body" idx="1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2400"/>
              <a:t>01</a:t>
            </a:r>
            <a:endParaRPr sz="2400"/>
          </a:p>
        </p:txBody>
      </p:sp>
      <p:sp>
        <p:nvSpPr>
          <p:cNvPr id="394" name="Google Shape;394;p44"/>
          <p:cNvSpPr txBox="1">
            <a:spLocks noGrp="1"/>
          </p:cNvSpPr>
          <p:nvPr>
            <p:ph type="title"/>
          </p:nvPr>
        </p:nvSpPr>
        <p:spPr>
          <a:xfrm>
            <a:off x="1359300" y="0"/>
            <a:ext cx="64254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tx1"/>
                </a:solidFill>
              </a:rPr>
              <a:t>Motivations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"/>
          <p:cNvSpPr txBox="1">
            <a:spLocks noGrp="1"/>
          </p:cNvSpPr>
          <p:nvPr>
            <p:ph type="title"/>
          </p:nvPr>
        </p:nvSpPr>
        <p:spPr>
          <a:xfrm>
            <a:off x="167623" y="521161"/>
            <a:ext cx="88050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chemeClr val="tx1"/>
                </a:solidFill>
              </a:rPr>
              <a:t>Image Animation</a:t>
            </a:r>
            <a:endParaRPr lang="en-GB" sz="24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400" name="Google Shape;400;p45"/>
          <p:cNvSpPr txBox="1">
            <a:spLocks noGrp="1"/>
          </p:cNvSpPr>
          <p:nvPr>
            <p:ph type="subTitle" idx="1"/>
          </p:nvPr>
        </p:nvSpPr>
        <p:spPr>
          <a:xfrm>
            <a:off x="355843" y="1059270"/>
            <a:ext cx="53946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/>
              <a:t>Novel Views and Expressions</a:t>
            </a:r>
            <a:endParaRPr sz="1400"/>
          </a:p>
        </p:txBody>
      </p:sp>
      <p:sp>
        <p:nvSpPr>
          <p:cNvPr id="401" name="Google Shape;401;p45"/>
          <p:cNvSpPr txBox="1">
            <a:spLocks noGrp="1"/>
          </p:cNvSpPr>
          <p:nvPr>
            <p:ph type="body" idx="2"/>
          </p:nvPr>
        </p:nvSpPr>
        <p:spPr>
          <a:xfrm>
            <a:off x="642924" y="1866735"/>
            <a:ext cx="7856220" cy="2212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GB" sz="2000" dirty="0"/>
              <a:t>Create an inversion method that could generate an image with novel views and expressions from a static image</a:t>
            </a:r>
            <a:endParaRPr lang="en-GB" sz="2000" dirty="0">
              <a:cs typeface="Arial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</a:pPr>
            <a:endParaRPr sz="2000" dirty="0">
              <a:cs typeface="Arial"/>
            </a:endParaRPr>
          </a:p>
          <a:p>
            <a:pPr marL="876300" lvl="1" indent="-34290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GB" sz="2000" dirty="0"/>
              <a:t>3-D Geometrical Consistency</a:t>
            </a:r>
            <a:endParaRPr sz="2000" dirty="0">
              <a:cs typeface="Arial"/>
            </a:endParaRPr>
          </a:p>
          <a:p>
            <a:pPr marL="876300" lvl="1" indent="-34290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GB" sz="2000" dirty="0"/>
              <a:t>Identity Preservation</a:t>
            </a:r>
            <a:endParaRPr lang="en-GB" sz="2000" dirty="0">
              <a:cs typeface="Arial"/>
            </a:endParaRPr>
          </a:p>
          <a:p>
            <a:pPr marL="876300" lvl="1" indent="-342900" algn="l" rtl="0">
              <a:spcBef>
                <a:spcPts val="0"/>
              </a:spcBef>
              <a:spcAft>
                <a:spcPts val="0"/>
              </a:spcAft>
              <a:buSzPts val="2400"/>
            </a:pPr>
            <a:endParaRPr sz="2000" dirty="0">
              <a:cs typeface="Arial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GB" sz="2000" err="1"/>
              <a:t>NeRFInvertor</a:t>
            </a:r>
            <a:r>
              <a:rPr lang="en-GB" sz="2000" dirty="0"/>
              <a:t> Method</a:t>
            </a:r>
            <a:endParaRPr sz="2000" dirty="0"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>
            <a:spLocks noGrp="1"/>
          </p:cNvSpPr>
          <p:nvPr>
            <p:ph type="title"/>
          </p:nvPr>
        </p:nvSpPr>
        <p:spPr>
          <a:xfrm>
            <a:off x="253250" y="2144700"/>
            <a:ext cx="4045200" cy="8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tx1"/>
                </a:solidFill>
              </a:rPr>
              <a:t>Artifacts</a:t>
            </a:r>
          </a:p>
        </p:txBody>
      </p:sp>
      <p:pic>
        <p:nvPicPr>
          <p:cNvPr id="407" name="Google Shape;407;p4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24045" y="1466215"/>
            <a:ext cx="4440555" cy="2078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>
            <a:spLocks noGrp="1"/>
          </p:cNvSpPr>
          <p:nvPr>
            <p:ph type="title"/>
          </p:nvPr>
        </p:nvSpPr>
        <p:spPr>
          <a:xfrm>
            <a:off x="265500" y="2193750"/>
            <a:ext cx="40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tx1"/>
                </a:solidFill>
              </a:rPr>
              <a:t>Identity Gap</a:t>
            </a:r>
          </a:p>
        </p:txBody>
      </p:sp>
      <p:pic>
        <p:nvPicPr>
          <p:cNvPr id="413" name="Google Shape;413;p4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54525" y="1213485"/>
            <a:ext cx="4514215" cy="2553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>
            <a:spLocks noGrp="1"/>
          </p:cNvSpPr>
          <p:nvPr>
            <p:ph type="body" idx="1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2400"/>
              <a:t>0</a:t>
            </a:r>
            <a:r>
              <a:rPr lang="en-US" altLang="en-GB" sz="2400"/>
              <a:t>2</a:t>
            </a:r>
          </a:p>
        </p:txBody>
      </p:sp>
      <p:sp>
        <p:nvSpPr>
          <p:cNvPr id="394" name="Google Shape;394;p44"/>
          <p:cNvSpPr txBox="1">
            <a:spLocks noGrp="1"/>
          </p:cNvSpPr>
          <p:nvPr>
            <p:ph type="title"/>
          </p:nvPr>
        </p:nvSpPr>
        <p:spPr>
          <a:xfrm>
            <a:off x="1359300" y="0"/>
            <a:ext cx="64254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6000">
                <a:solidFill>
                  <a:schemeClr val="tx1"/>
                </a:solidFill>
              </a:rPr>
              <a:t>Data 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>
            <a:spLocks noGrp="1"/>
          </p:cNvSpPr>
          <p:nvPr>
            <p:ph type="title"/>
          </p:nvPr>
        </p:nvSpPr>
        <p:spPr>
          <a:xfrm>
            <a:off x="72390" y="81280"/>
            <a:ext cx="8804910" cy="4279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tx1"/>
                </a:solidFill>
              </a:rPr>
              <a:t>Data Used</a:t>
            </a:r>
          </a:p>
        </p:txBody>
      </p:sp>
      <p:sp>
        <p:nvSpPr>
          <p:cNvPr id="425" name="Google Shape;425;p49"/>
          <p:cNvSpPr txBox="1">
            <a:spLocks noGrp="1"/>
          </p:cNvSpPr>
          <p:nvPr>
            <p:ph type="subTitle" idx="1"/>
          </p:nvPr>
        </p:nvSpPr>
        <p:spPr>
          <a:xfrm>
            <a:off x="343115" y="700495"/>
            <a:ext cx="5394600" cy="2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/>
              <a:t>Images of Real People (Celebrities)</a:t>
            </a:r>
            <a:endParaRPr sz="1200"/>
          </a:p>
        </p:txBody>
      </p:sp>
      <p:sp>
        <p:nvSpPr>
          <p:cNvPr id="426" name="Google Shape;426;p49"/>
          <p:cNvSpPr txBox="1">
            <a:spLocks noGrp="1"/>
          </p:cNvSpPr>
          <p:nvPr>
            <p:ph type="body" idx="2"/>
          </p:nvPr>
        </p:nvSpPr>
        <p:spPr>
          <a:xfrm>
            <a:off x="191770" y="1209675"/>
            <a:ext cx="5697220" cy="3662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7350" lvl="0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CelebA-HQ</a:t>
            </a:r>
          </a:p>
          <a:p>
            <a:pPr marL="387350" lvl="0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sz="1600"/>
          </a:p>
          <a:p>
            <a:pPr marL="387350" lvl="0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FFHQ</a:t>
            </a:r>
          </a:p>
          <a:p>
            <a:pPr marL="387350" lvl="0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sz="1600"/>
          </a:p>
          <a:p>
            <a:pPr marL="387350" lvl="0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Models</a:t>
            </a:r>
            <a:endParaRPr sz="1600"/>
          </a:p>
          <a:p>
            <a:pPr marL="844550" lvl="1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AniFaceGAN</a:t>
            </a:r>
            <a:endParaRPr sz="1600"/>
          </a:p>
          <a:p>
            <a:pPr marL="844550" lvl="1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GRAM</a:t>
            </a:r>
          </a:p>
          <a:p>
            <a:pPr marL="844550" lvl="1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sz="1600"/>
          </a:p>
          <a:p>
            <a:pPr marL="387350" lvl="0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Methods</a:t>
            </a:r>
            <a:endParaRPr sz="1600"/>
          </a:p>
          <a:p>
            <a:pPr marL="844550" lvl="1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I2S (W)</a:t>
            </a:r>
            <a:endParaRPr sz="1600"/>
          </a:p>
          <a:p>
            <a:pPr marL="844550" lvl="1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I2S (W+)</a:t>
            </a:r>
            <a:endParaRPr sz="1600"/>
          </a:p>
          <a:p>
            <a:pPr marL="844550" lvl="1" indent="-28575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GB" sz="1600"/>
              <a:t>PTI</a:t>
            </a:r>
            <a:endParaRPr sz="1600"/>
          </a:p>
        </p:txBody>
      </p:sp>
      <p:pic>
        <p:nvPicPr>
          <p:cNvPr id="427" name="Google Shape;427;p4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12825" y="1381891"/>
            <a:ext cx="5394600" cy="2733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>
            <a:spLocks noGrp="1"/>
          </p:cNvSpPr>
          <p:nvPr>
            <p:ph type="body" idx="1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2400"/>
              <a:t>0</a:t>
            </a:r>
            <a:r>
              <a:rPr lang="en-US" altLang="en-GB" sz="2400"/>
              <a:t>3</a:t>
            </a:r>
          </a:p>
        </p:txBody>
      </p:sp>
      <p:sp>
        <p:nvSpPr>
          <p:cNvPr id="394" name="Google Shape;394;p44"/>
          <p:cNvSpPr txBox="1">
            <a:spLocks noGrp="1"/>
          </p:cNvSpPr>
          <p:nvPr>
            <p:ph type="title"/>
          </p:nvPr>
        </p:nvSpPr>
        <p:spPr>
          <a:xfrm>
            <a:off x="1359300" y="0"/>
            <a:ext cx="64254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6000">
                <a:solidFill>
                  <a:schemeClr val="tx1"/>
                </a:solidFill>
              </a:rPr>
              <a:t>Key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150495"/>
            <a:ext cx="8059420" cy="4585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39370"/>
            <a:ext cx="7617460" cy="25933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60" y="2715260"/>
            <a:ext cx="4406900" cy="1762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>
            <a:spLocks noGrp="1"/>
          </p:cNvSpPr>
          <p:nvPr>
            <p:ph type="body" idx="1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2400"/>
              <a:t>0</a:t>
            </a:r>
            <a:r>
              <a:rPr lang="en-US" altLang="en-GB" sz="2400"/>
              <a:t>4</a:t>
            </a:r>
          </a:p>
        </p:txBody>
      </p:sp>
      <p:sp>
        <p:nvSpPr>
          <p:cNvPr id="394" name="Google Shape;394;p44"/>
          <p:cNvSpPr txBox="1">
            <a:spLocks noGrp="1"/>
          </p:cNvSpPr>
          <p:nvPr>
            <p:ph type="title"/>
          </p:nvPr>
        </p:nvSpPr>
        <p:spPr>
          <a:xfrm>
            <a:off x="1359300" y="0"/>
            <a:ext cx="64254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6000">
                <a:solidFill>
                  <a:schemeClr val="tx1"/>
                </a:solidFill>
              </a:rPr>
              <a:t>Visualizations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095" y="271145"/>
            <a:ext cx="2541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1. Comparison Figures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577850"/>
            <a:ext cx="4086860" cy="45002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030" y="972185"/>
            <a:ext cx="3742055" cy="4135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095" y="271145"/>
            <a:ext cx="2541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2. Animation Results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285" y="483870"/>
            <a:ext cx="4012565" cy="4622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095" y="271145"/>
            <a:ext cx="3361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3. Trade-off Visualization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80" y="692150"/>
            <a:ext cx="5421630" cy="40627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095" y="271145"/>
            <a:ext cx="2541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4. Framework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715010"/>
            <a:ext cx="8354695" cy="4001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095" y="271145"/>
            <a:ext cx="2541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5. Ablation Studies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180" y="617855"/>
            <a:ext cx="3980180" cy="43916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095" y="271145"/>
            <a:ext cx="2541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6. Multi-model 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30" y="531495"/>
            <a:ext cx="6925310" cy="46120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>
            <a:spLocks noGrp="1"/>
          </p:cNvSpPr>
          <p:nvPr>
            <p:ph type="body" idx="1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2400"/>
              <a:t>0</a:t>
            </a:r>
            <a:r>
              <a:rPr lang="en-US" altLang="en-GB" sz="2400"/>
              <a:t>5</a:t>
            </a:r>
          </a:p>
        </p:txBody>
      </p:sp>
      <p:sp>
        <p:nvSpPr>
          <p:cNvPr id="394" name="Google Shape;394;p44"/>
          <p:cNvSpPr txBox="1">
            <a:spLocks noGrp="1"/>
          </p:cNvSpPr>
          <p:nvPr>
            <p:ph type="title"/>
          </p:nvPr>
        </p:nvSpPr>
        <p:spPr>
          <a:xfrm>
            <a:off x="1359300" y="0"/>
            <a:ext cx="64254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6000">
                <a:solidFill>
                  <a:schemeClr val="tx1"/>
                </a:solidFill>
              </a:rPr>
              <a:t>What We Learned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D790A-8696-0373-AF14-B074BF81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/>
          <a:lstStyle/>
          <a:p>
            <a:r>
              <a:rPr lang="en-US" altLang="zh-CN" dirty="0">
                <a:ea typeface="+mj-lt"/>
                <a:cs typeface="+mj-lt"/>
              </a:rPr>
              <a:t>Single-Image to 3D Visualization Workflow</a:t>
            </a:r>
            <a:endParaRPr lang="zh-CN" altLang="en-US" dirty="0">
              <a:ea typeface="+mj-lt"/>
              <a:cs typeface="+mj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E730C0-CA96-2C76-9624-6730602231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91440" tIns="45720" rIns="91440" bIns="45720" anchor="t"/>
          <a:lstStyle/>
          <a:p>
            <a:pPr marL="285750" indent="-285750" algn="just">
              <a:buFont typeface="Arial,Sans-Serif"/>
            </a:pPr>
            <a:r>
              <a:rPr lang="en-US" altLang="zh-CN" sz="1200" dirty="0">
                <a:cs typeface="Arial"/>
              </a:rPr>
              <a:t>T</a:t>
            </a:r>
            <a:r>
              <a:rPr lang="zh-CN" sz="1200">
                <a:cs typeface="Arial"/>
              </a:rPr>
              <a:t>h</a:t>
            </a:r>
            <a:r>
              <a:rPr lang="en-US" altLang="zh-CN" sz="1200" dirty="0">
                <a:cs typeface="Arial"/>
              </a:rPr>
              <a:t>e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visual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str</a:t>
            </a:r>
            <a:r>
              <a:rPr lang="zh-CN" sz="1200">
                <a:cs typeface="Arial"/>
              </a:rPr>
              <a:t>at</a:t>
            </a:r>
            <a:r>
              <a:rPr lang="en-US" altLang="zh-CN" sz="1200" dirty="0" err="1">
                <a:cs typeface="Arial"/>
              </a:rPr>
              <a:t>egy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of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starting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with</a:t>
            </a:r>
            <a:r>
              <a:rPr lang="zh-CN" sz="1200">
                <a:cs typeface="Arial"/>
              </a:rPr>
              <a:t> a single </a:t>
            </a:r>
            <a:r>
              <a:rPr lang="en-US" altLang="zh-CN" sz="1200" dirty="0">
                <a:cs typeface="Arial"/>
              </a:rPr>
              <a:t>2D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 err="1">
                <a:cs typeface="Arial"/>
              </a:rPr>
              <a:t>portra</a:t>
            </a:r>
            <a:r>
              <a:rPr lang="zh-CN" sz="1200">
                <a:cs typeface="Arial"/>
              </a:rPr>
              <a:t>i</a:t>
            </a:r>
            <a:r>
              <a:rPr lang="en-US" altLang="zh-CN" sz="1200" dirty="0">
                <a:cs typeface="Arial"/>
              </a:rPr>
              <a:t>t</a:t>
            </a:r>
            <a:r>
              <a:rPr lang="zh-CN" sz="1200">
                <a:cs typeface="Arial"/>
              </a:rPr>
              <a:t> a</a:t>
            </a:r>
            <a:r>
              <a:rPr lang="en-US" altLang="zh-CN" sz="1200" dirty="0" err="1">
                <a:cs typeface="Arial"/>
              </a:rPr>
              <a:t>nd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d</a:t>
            </a:r>
            <a:r>
              <a:rPr lang="zh-CN" sz="1200">
                <a:cs typeface="Arial"/>
              </a:rPr>
              <a:t>e</a:t>
            </a:r>
            <a:r>
              <a:rPr lang="en-US" altLang="zh-CN" sz="1200" dirty="0">
                <a:cs typeface="Arial"/>
              </a:rPr>
              <a:t>m</a:t>
            </a:r>
            <a:r>
              <a:rPr lang="zh-CN" sz="1200">
                <a:cs typeface="Arial"/>
              </a:rPr>
              <a:t>ons</a:t>
            </a:r>
            <a:r>
              <a:rPr lang="en-US" altLang="zh-CN" sz="1200" dirty="0">
                <a:cs typeface="Arial"/>
              </a:rPr>
              <a:t>trat</a:t>
            </a:r>
            <a:r>
              <a:rPr lang="zh-CN" sz="1200">
                <a:cs typeface="Arial"/>
              </a:rPr>
              <a:t>in</a:t>
            </a:r>
            <a:r>
              <a:rPr lang="en-US" altLang="zh-CN" sz="1200" dirty="0">
                <a:cs typeface="Arial"/>
              </a:rPr>
              <a:t>g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its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 err="1">
                <a:cs typeface="Arial"/>
              </a:rPr>
              <a:t>tran</a:t>
            </a:r>
            <a:r>
              <a:rPr lang="zh-CN" sz="1200">
                <a:cs typeface="Arial"/>
              </a:rPr>
              <a:t>sf</a:t>
            </a:r>
            <a:r>
              <a:rPr lang="en-US" altLang="zh-CN" sz="1200" dirty="0" err="1">
                <a:cs typeface="Arial"/>
              </a:rPr>
              <a:t>ormat</a:t>
            </a:r>
            <a:r>
              <a:rPr lang="zh-CN" sz="1200">
                <a:cs typeface="Arial"/>
              </a:rPr>
              <a:t>i</a:t>
            </a:r>
            <a:r>
              <a:rPr lang="en-US" altLang="zh-CN" sz="1200" dirty="0">
                <a:cs typeface="Arial"/>
              </a:rPr>
              <a:t>on</a:t>
            </a:r>
            <a:r>
              <a:rPr lang="zh-CN" sz="1200">
                <a:cs typeface="Arial"/>
              </a:rPr>
              <a:t> into </a:t>
            </a:r>
            <a:r>
              <a:rPr lang="en-US" altLang="zh-CN" sz="1200" dirty="0">
                <a:cs typeface="Arial"/>
              </a:rPr>
              <a:t>a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3D</a:t>
            </a:r>
            <a:r>
              <a:rPr lang="zh-CN" sz="1200">
                <a:cs typeface="Arial"/>
              </a:rPr>
              <a:t> r</a:t>
            </a:r>
            <a:r>
              <a:rPr lang="en-US" altLang="zh-CN" sz="1200" dirty="0">
                <a:cs typeface="Arial"/>
              </a:rPr>
              <a:t>ep</a:t>
            </a:r>
            <a:r>
              <a:rPr lang="zh-CN" sz="1200">
                <a:cs typeface="Arial"/>
              </a:rPr>
              <a:t>re</a:t>
            </a:r>
            <a:r>
              <a:rPr lang="en-US" altLang="zh-CN" sz="1200" dirty="0" err="1">
                <a:cs typeface="Arial"/>
              </a:rPr>
              <a:t>sentation</a:t>
            </a:r>
            <a:r>
              <a:rPr lang="en-US" altLang="zh-CN" sz="1200" dirty="0">
                <a:cs typeface="Arial"/>
              </a:rPr>
              <a:t>.</a:t>
            </a:r>
            <a:endParaRPr lang="zh-CN" sz="1200" dirty="0">
              <a:cs typeface="Arial"/>
            </a:endParaRPr>
          </a:p>
          <a:p>
            <a:pPr marL="285750" indent="-285750" algn="just">
              <a:buFont typeface="Arial,Sans-Serif"/>
            </a:pPr>
            <a:endParaRPr lang="en-US" altLang="zh-CN" sz="1200" dirty="0">
              <a:cs typeface="Arial"/>
            </a:endParaRPr>
          </a:p>
          <a:p>
            <a:pPr marL="285750" indent="-285750" algn="just">
              <a:buFont typeface="Arial,Sans-Serif"/>
            </a:pPr>
            <a:r>
              <a:rPr lang="en-US" altLang="zh-CN" sz="1200" dirty="0">
                <a:cs typeface="Arial"/>
              </a:rPr>
              <a:t>Autho</a:t>
            </a:r>
            <a:r>
              <a:rPr lang="zh-CN" sz="1200">
                <a:cs typeface="Arial"/>
              </a:rPr>
              <a:t>r</a:t>
            </a:r>
            <a:r>
              <a:rPr lang="en-US" altLang="zh-CN" sz="1200" dirty="0">
                <a:cs typeface="Arial"/>
              </a:rPr>
              <a:t>s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 err="1">
                <a:cs typeface="Arial"/>
              </a:rPr>
              <a:t>illus</a:t>
            </a:r>
            <a:r>
              <a:rPr lang="zh-CN" sz="1200">
                <a:cs typeface="Arial"/>
              </a:rPr>
              <a:t>tra</a:t>
            </a:r>
            <a:r>
              <a:rPr lang="en-US" altLang="zh-CN" sz="1200" dirty="0">
                <a:cs typeface="Arial"/>
              </a:rPr>
              <a:t>t</a:t>
            </a:r>
            <a:r>
              <a:rPr lang="zh-CN" sz="1200">
                <a:cs typeface="Arial"/>
              </a:rPr>
              <a:t>e h</a:t>
            </a:r>
            <a:r>
              <a:rPr lang="en-US" altLang="zh-CN" sz="1200" dirty="0">
                <a:cs typeface="Arial"/>
              </a:rPr>
              <a:t>ow</a:t>
            </a:r>
            <a:r>
              <a:rPr lang="zh-CN" sz="1200">
                <a:cs typeface="Arial"/>
              </a:rPr>
              <a:t> a s</a:t>
            </a:r>
            <a:r>
              <a:rPr lang="en-US" altLang="zh-CN" sz="1200" dirty="0" err="1">
                <a:cs typeface="Arial"/>
              </a:rPr>
              <a:t>ing</a:t>
            </a:r>
            <a:r>
              <a:rPr lang="zh-CN" sz="1200">
                <a:cs typeface="Arial"/>
              </a:rPr>
              <a:t>le </a:t>
            </a:r>
            <a:r>
              <a:rPr lang="en-US" altLang="zh-CN" sz="1200" dirty="0">
                <a:cs typeface="Arial"/>
              </a:rPr>
              <a:t>2D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input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can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be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m</a:t>
            </a:r>
            <a:r>
              <a:rPr lang="zh-CN" sz="1200">
                <a:cs typeface="Arial"/>
              </a:rPr>
              <a:t>a</a:t>
            </a:r>
            <a:r>
              <a:rPr lang="en-US" altLang="zh-CN" sz="1200" dirty="0" err="1">
                <a:cs typeface="Arial"/>
              </a:rPr>
              <a:t>pped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to</a:t>
            </a:r>
            <a:r>
              <a:rPr lang="zh-CN" sz="1200">
                <a:cs typeface="Arial"/>
              </a:rPr>
              <a:t> d</a:t>
            </a:r>
            <a:r>
              <a:rPr lang="en-US" altLang="zh-CN" sz="1200" dirty="0" err="1">
                <a:cs typeface="Arial"/>
              </a:rPr>
              <a:t>ensit</a:t>
            </a:r>
            <a:r>
              <a:rPr lang="zh-CN" sz="1200">
                <a:cs typeface="Arial"/>
              </a:rPr>
              <a:t>y and </a:t>
            </a:r>
            <a:r>
              <a:rPr lang="en-US" altLang="zh-CN" sz="1200" dirty="0">
                <a:cs typeface="Arial"/>
              </a:rPr>
              <a:t>co</a:t>
            </a:r>
            <a:r>
              <a:rPr lang="zh-CN" sz="1200">
                <a:cs typeface="Arial"/>
              </a:rPr>
              <a:t>l</a:t>
            </a:r>
            <a:r>
              <a:rPr lang="en-US" altLang="zh-CN" sz="1200" dirty="0">
                <a:cs typeface="Arial"/>
              </a:rPr>
              <a:t>or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fie</a:t>
            </a:r>
            <a:r>
              <a:rPr lang="zh-CN" sz="1200">
                <a:cs typeface="Arial"/>
              </a:rPr>
              <a:t>l</a:t>
            </a:r>
            <a:r>
              <a:rPr lang="en-US" altLang="zh-CN" sz="1200" dirty="0">
                <a:cs typeface="Arial"/>
              </a:rPr>
              <a:t>ds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(</a:t>
            </a:r>
            <a:r>
              <a:rPr lang="en-US" altLang="zh-CN" sz="1200" dirty="0" err="1">
                <a:cs typeface="Arial"/>
              </a:rPr>
              <a:t>th</a:t>
            </a:r>
            <a:r>
              <a:rPr lang="zh-CN" sz="1200">
                <a:cs typeface="Arial"/>
              </a:rPr>
              <a:t>e </a:t>
            </a:r>
            <a:r>
              <a:rPr lang="en-US" altLang="zh-CN" sz="1200" dirty="0" err="1">
                <a:cs typeface="Arial"/>
              </a:rPr>
              <a:t>NeRF</a:t>
            </a:r>
            <a:r>
              <a:rPr lang="zh-CN" sz="1200" dirty="0">
                <a:cs typeface="Arial"/>
              </a:rPr>
              <a:t> </a:t>
            </a:r>
            <a:r>
              <a:rPr lang="en-US" altLang="zh-CN" sz="1200" dirty="0">
                <a:cs typeface="Arial"/>
              </a:rPr>
              <a:t>re</a:t>
            </a:r>
            <a:r>
              <a:rPr lang="zh-CN" sz="1200">
                <a:cs typeface="Arial"/>
              </a:rPr>
              <a:t>pr</a:t>
            </a:r>
            <a:r>
              <a:rPr lang="en-US" altLang="zh-CN" sz="1200" dirty="0" err="1">
                <a:cs typeface="Arial"/>
              </a:rPr>
              <a:t>esentat</a:t>
            </a:r>
            <a:r>
              <a:rPr lang="zh-CN" sz="1200">
                <a:cs typeface="Arial"/>
              </a:rPr>
              <a:t>io</a:t>
            </a:r>
            <a:r>
              <a:rPr lang="en-US" altLang="zh-CN" sz="1200" dirty="0">
                <a:cs typeface="Arial"/>
              </a:rPr>
              <a:t>n).</a:t>
            </a:r>
            <a:endParaRPr lang="zh-CN" sz="1200" dirty="0">
              <a:cs typeface="Arial"/>
            </a:endParaRPr>
          </a:p>
          <a:p>
            <a:pPr marL="285750" indent="-285750" algn="just">
              <a:buFont typeface="Arial,Sans-Serif"/>
            </a:pPr>
            <a:endParaRPr lang="en-US" altLang="zh-CN" sz="1200" dirty="0">
              <a:cs typeface="Arial"/>
            </a:endParaRPr>
          </a:p>
          <a:p>
            <a:pPr marL="285750" indent="-285750" algn="just">
              <a:buFont typeface="Arial,Sans-Serif"/>
              <a:buChar char="•"/>
            </a:pPr>
            <a:endParaRPr lang="en-US" altLang="zh-CN" sz="1200" dirty="0">
              <a:cs typeface="Arial"/>
            </a:endParaRPr>
          </a:p>
          <a:p>
            <a:pPr marL="0" indent="0" algn="just">
              <a:buNone/>
            </a:pPr>
            <a:r>
              <a:rPr lang="en-US" altLang="zh-CN" sz="1200" b="1" err="1">
                <a:cs typeface="Arial"/>
              </a:rPr>
              <a:t>Thi</a:t>
            </a:r>
            <a:r>
              <a:rPr lang="zh-CN" sz="1200" b="1">
                <a:cs typeface="Arial"/>
              </a:rPr>
              <a:t>s </a:t>
            </a:r>
            <a:r>
              <a:rPr lang="en-US" altLang="zh-CN" sz="1200" b="1" dirty="0">
                <a:cs typeface="Arial"/>
              </a:rPr>
              <a:t>approach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underscores the importance of multi-step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visual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pipelines—showing how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raw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data (the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single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photo)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is progressively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interpreted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(by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the </a:t>
            </a:r>
            <a:r>
              <a:rPr lang="en-US" altLang="zh-CN" sz="1200" b="1" err="1">
                <a:cs typeface="Arial"/>
              </a:rPr>
              <a:t>NeRF</a:t>
            </a:r>
            <a:r>
              <a:rPr lang="en-US" altLang="zh-CN" sz="1200" b="1" dirty="0">
                <a:cs typeface="Arial"/>
              </a:rPr>
              <a:t>-GAN)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into a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volumetric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format and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then rendered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from</a:t>
            </a:r>
            <a:r>
              <a:rPr lang="zh-CN" sz="1200" b="1" dirty="0">
                <a:cs typeface="Arial"/>
              </a:rPr>
              <a:t> </a:t>
            </a:r>
            <a:r>
              <a:rPr lang="en-US" altLang="zh-CN" sz="1200" b="1" dirty="0">
                <a:cs typeface="Arial"/>
              </a:rPr>
              <a:t>novel viewpoints.</a:t>
            </a:r>
            <a:endParaRPr lang="zh-CN" altLang="en-US" dirty="0">
              <a:cs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C4945E-9663-C822-6FD7-1006E1349453}"/>
              </a:ext>
            </a:extLst>
          </p:cNvPr>
          <p:cNvSpPr txBox="1"/>
          <p:nvPr/>
        </p:nvSpPr>
        <p:spPr>
          <a:xfrm>
            <a:off x="3979719" y="4582564"/>
            <a:ext cx="4982008" cy="2692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1100"/>
              <a:t>Cr.introduction,3.1 Image Space Supervision</a:t>
            </a:r>
            <a:r>
              <a:rPr lang="en-US" altLang="zh-CN" sz="1100" dirty="0"/>
              <a:t>,4.2 Qualitative Evalution</a:t>
            </a:r>
            <a:r>
              <a:rPr lang="zh-CN" sz="1100"/>
              <a:t>​</a:t>
            </a:r>
          </a:p>
        </p:txBody>
      </p:sp>
      <p:pic>
        <p:nvPicPr>
          <p:cNvPr id="9" name="内容占位符 8" descr="一群人的照片&#10;&#10;AI 生成的内容可能不正确。">
            <a:extLst>
              <a:ext uri="{FF2B5EF4-FFF2-40B4-BE49-F238E27FC236}">
                <a16:creationId xmlns:a16="http://schemas.microsoft.com/office/drawing/2014/main" id="{36E00618-6DA8-47FC-F81D-E1E2FD2D44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653" y="1356964"/>
            <a:ext cx="4032504" cy="2577379"/>
          </a:xfrm>
        </p:spPr>
      </p:pic>
    </p:spTree>
    <p:extLst>
      <p:ext uri="{BB962C8B-B14F-4D97-AF65-F5344CB8AC3E}">
        <p14:creationId xmlns:p14="http://schemas.microsoft.com/office/powerpoint/2010/main" val="4270362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5AA9C-2F85-A438-EAF3-7965B2B2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F17BE-F2DC-B566-76F5-605703F5B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en-US" b="0" i="0" u="none" kern="1200" baseline="0">
                <a:latin typeface="+mj-lt"/>
                <a:ea typeface="+mj-ea"/>
                <a:cs typeface="+mj-cs"/>
              </a:rPr>
              <a:t>Comparison of Color and Density Fields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5FDBC-3C9D-D6BE-24C1-47248ED19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1" y="1443377"/>
            <a:ext cx="3868340" cy="2763441"/>
          </a:xfrm>
        </p:spPr>
        <p:txBody>
          <a:bodyPr lIns="91440" tIns="45720" rIns="91440" bIns="45720">
            <a:normAutofit/>
          </a:bodyPr>
          <a:lstStyle/>
          <a:p>
            <a:pPr marL="285750" indent="-285750">
              <a:lnSpc>
                <a:spcPct val="90000"/>
              </a:lnSpc>
              <a:buFont typeface="Arial,Sans-Serif"/>
              <a:buChar char="•"/>
            </a:pPr>
            <a:r>
              <a:rPr lang="en-US" sz="1500" dirty="0"/>
              <a:t>The paper </a:t>
            </a:r>
            <a:r>
              <a:rPr lang="en-US" altLang="zh-CN" sz="1500" dirty="0"/>
              <a:t>highlights</a:t>
            </a:r>
            <a:r>
              <a:rPr lang="en-US" sz="1500" dirty="0"/>
              <a:t> density outputs</a:t>
            </a:r>
            <a:r>
              <a:rPr lang="en-US" altLang="zh-CN" sz="1500" dirty="0"/>
              <a:t> and</a:t>
            </a:r>
            <a:r>
              <a:rPr lang="en-US" sz="1500" dirty="0"/>
              <a:t> </a:t>
            </a:r>
            <a:r>
              <a:rPr lang="en-US" altLang="zh-CN" sz="1500" dirty="0"/>
              <a:t>color</a:t>
            </a:r>
            <a:r>
              <a:rPr lang="en-US" sz="1500" dirty="0"/>
              <a:t> distributions</a:t>
            </a:r>
            <a:r>
              <a:rPr lang="en-US" altLang="zh-CN" sz="1500" dirty="0"/>
              <a:t> in</a:t>
            </a:r>
            <a:r>
              <a:rPr lang="en-US" sz="1500" dirty="0"/>
              <a:t> 3D</a:t>
            </a:r>
            <a:r>
              <a:rPr lang="en-US" altLang="zh-CN" sz="1500" dirty="0"/>
              <a:t> space</a:t>
            </a:r>
            <a:r>
              <a:rPr lang="en-US" sz="1500" dirty="0"/>
              <a:t> rather than only showing final rendered images.</a:t>
            </a:r>
            <a:endParaRPr lang="en-US" altLang="zh-CN" sz="1500" dirty="0"/>
          </a:p>
          <a:p>
            <a:pPr marL="285750" indent="-285750">
              <a:lnSpc>
                <a:spcPct val="90000"/>
              </a:lnSpc>
              <a:buFont typeface="Arial,Sans-Serif"/>
              <a:buChar char="•"/>
            </a:pPr>
            <a:endParaRPr lang="en-US" sz="1500"/>
          </a:p>
          <a:p>
            <a:pPr marL="285750" indent="-285750">
              <a:lnSpc>
                <a:spcPct val="90000"/>
              </a:lnSpc>
              <a:buFont typeface="Arial,Sans-Serif"/>
              <a:buChar char="•"/>
            </a:pPr>
            <a:endParaRPr lang="en-US" altLang="zh-CN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500"/>
              <a:t>By offering both a visual</a:t>
            </a:r>
            <a:r>
              <a:rPr lang="en-US" altLang="zh-CN" sz="1500"/>
              <a:t> </a:t>
            </a:r>
            <a:r>
              <a:rPr lang="en-US" sz="1500"/>
              <a:t>(2D projections)</a:t>
            </a:r>
            <a:r>
              <a:rPr lang="en-US" altLang="zh-CN" sz="1500"/>
              <a:t> </a:t>
            </a:r>
            <a:r>
              <a:rPr lang="en-US" sz="1500"/>
              <a:t>and a structural (3D density)</a:t>
            </a:r>
            <a:r>
              <a:rPr lang="en-US" altLang="zh-CN" sz="1500"/>
              <a:t> </a:t>
            </a:r>
            <a:r>
              <a:rPr lang="en-US" sz="1500"/>
              <a:t>perspective, the authors help readers pinpoint where errors or artifacts might originate—whether it’s an issue with geometry, shading, or identity resemblance.</a:t>
            </a:r>
            <a:endParaRPr lang="en-US" altLang="zh-CN" sz="1500"/>
          </a:p>
          <a:p>
            <a:pPr marL="0" indent="0">
              <a:lnSpc>
                <a:spcPct val="90000"/>
              </a:lnSpc>
              <a:buNone/>
            </a:pPr>
            <a:endParaRPr lang="en-US" altLang="zh-CN" sz="1500"/>
          </a:p>
          <a:p>
            <a:pPr marL="0" indent="0">
              <a:lnSpc>
                <a:spcPct val="90000"/>
              </a:lnSpc>
              <a:buFontTx/>
              <a:buNone/>
            </a:pPr>
            <a:endParaRPr lang="en-US" altLang="zh-CN" sz="15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10FBB0-995A-4E37-1D3C-CA22284AADD5}"/>
              </a:ext>
            </a:extLst>
          </p:cNvPr>
          <p:cNvSpPr txBox="1"/>
          <p:nvPr/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9525">
            <a:noFill/>
          </a:ln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defTabSz="685800" fontAlgn="base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</a:pPr>
            <a:r>
              <a:rPr lang="en-US" altLang="zh-CN" sz="1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​</a:t>
            </a:r>
          </a:p>
          <a:p>
            <a:pPr defTabSz="685800" fontAlgn="base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</a:pPr>
            <a:r>
              <a:rPr lang="en-US" altLang="zh-CN" sz="1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Cr.3.2 Explicit Geometrical Regularization​ 3.3 Implicit Geometrical Regularization</a:t>
            </a:r>
          </a:p>
        </p:txBody>
      </p:sp>
      <p:pic>
        <p:nvPicPr>
          <p:cNvPr id="9" name="内容占位符 8" descr="文本, 信件&#10;&#10;AI 生成的内容可能不正确。">
            <a:extLst>
              <a:ext uri="{FF2B5EF4-FFF2-40B4-BE49-F238E27FC236}">
                <a16:creationId xmlns:a16="http://schemas.microsoft.com/office/drawing/2014/main" id="{1330B871-70E3-875F-1085-8ED7F38F95B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l="28331" t="-316" r="28790"/>
          <a:stretch/>
        </p:blipFill>
        <p:spPr>
          <a:xfrm>
            <a:off x="4574722" y="2369309"/>
            <a:ext cx="3491333" cy="1494104"/>
          </a:xfrm>
        </p:spPr>
      </p:pic>
    </p:spTree>
    <p:extLst>
      <p:ext uri="{BB962C8B-B14F-4D97-AF65-F5344CB8AC3E}">
        <p14:creationId xmlns:p14="http://schemas.microsoft.com/office/powerpoint/2010/main" val="3794445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BD297-0B92-C086-6F9A-4822D3C5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/>
          <a:lstStyle/>
          <a:p>
            <a:r>
              <a:rPr lang="zh-CN">
                <a:ea typeface="+mj-lt"/>
                <a:cs typeface="+mj-lt"/>
              </a:rPr>
              <a:t>Side-by-Side Novel View Comparisons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64F173-8C28-7B88-DC7C-154553A85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1520" y="1283970"/>
            <a:ext cx="4032504" cy="2480072"/>
          </a:xfrm>
        </p:spPr>
        <p:txBody>
          <a:bodyPr lIns="91440" tIns="45720" rIns="91440" bIns="45720" anchor="t"/>
          <a:lstStyle/>
          <a:p>
            <a:r>
              <a:rPr lang="zh-CN" altLang="en-US" sz="1200">
                <a:cs typeface="Arial"/>
              </a:rPr>
              <a:t>The authors routinely present </a:t>
            </a:r>
            <a:r>
              <a:rPr lang="zh-CN" altLang="en-US" sz="1200" b="1">
                <a:cs typeface="Arial"/>
              </a:rPr>
              <a:t>multi-view snapshots</a:t>
            </a:r>
            <a:r>
              <a:rPr lang="zh-CN" altLang="en-US" sz="1200">
                <a:cs typeface="Arial"/>
              </a:rPr>
              <a:t>—for instance, rotating the camera around the face. They line up the results for different baselines to compare identity preservation and artifact formation in real-time across angles.</a:t>
            </a:r>
            <a:endParaRPr lang="zh-CN" altLang="en-US" sz="1200" dirty="0">
              <a:cs typeface="Arial"/>
            </a:endParaRPr>
          </a:p>
          <a:p>
            <a:endParaRPr lang="zh-CN" altLang="en-US" sz="1200" dirty="0">
              <a:cs typeface="Arial"/>
            </a:endParaRPr>
          </a:p>
          <a:p>
            <a:endParaRPr lang="zh-CN" altLang="en-US" sz="1200" dirty="0">
              <a:cs typeface="Arial"/>
            </a:endParaRPr>
          </a:p>
          <a:p>
            <a:r>
              <a:rPr lang="zh-CN" sz="1200">
                <a:cs typeface="Arial"/>
              </a:rPr>
              <a:t>This style of grid-based or row-by-row display makes it easy to see how each method deals with pose changes, ensuring the reader can visually confirm which approach maintains identity and geometry most faithfully.</a:t>
            </a:r>
          </a:p>
          <a:p>
            <a:endParaRPr lang="zh-CN" altLang="en-US" sz="1200" dirty="0">
              <a:cs typeface="Arial"/>
            </a:endParaRPr>
          </a:p>
        </p:txBody>
      </p:sp>
      <p:pic>
        <p:nvPicPr>
          <p:cNvPr id="5" name="内容占位符 4" descr="一群人的照片&#10;&#10;AI 生成的内容可能不正确。">
            <a:extLst>
              <a:ext uri="{FF2B5EF4-FFF2-40B4-BE49-F238E27FC236}">
                <a16:creationId xmlns:a16="http://schemas.microsoft.com/office/drawing/2014/main" id="{9BFF6DEC-9BD7-6DEF-FD72-CB1972FB1B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65711" y="1200150"/>
            <a:ext cx="3009674" cy="3394472"/>
          </a:xfrm>
        </p:spPr>
      </p:pic>
    </p:spTree>
    <p:extLst>
      <p:ext uri="{BB962C8B-B14F-4D97-AF65-F5344CB8AC3E}">
        <p14:creationId xmlns:p14="http://schemas.microsoft.com/office/powerpoint/2010/main" val="3423167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D99EB-92C4-BACC-CF71-B2AB7799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en-US" altLang="zh-CN"/>
              <a:t>Foreground Masking &amp; Ablation Visuals</a:t>
            </a:r>
            <a:endParaRPr lang="zh-CN" altLang="en-US"/>
          </a:p>
        </p:txBody>
      </p:sp>
      <p:pic>
        <p:nvPicPr>
          <p:cNvPr id="5" name="内容占位符 4" descr="一群人的照片&#10;&#10;AI 生成的内容可能不正确。">
            <a:extLst>
              <a:ext uri="{FF2B5EF4-FFF2-40B4-BE49-F238E27FC236}">
                <a16:creationId xmlns:a16="http://schemas.microsoft.com/office/drawing/2014/main" id="{5DCB6B5C-5CFF-1905-499E-5CB00688AF8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5189" r="-169" b="494"/>
          <a:stretch/>
        </p:blipFill>
        <p:spPr>
          <a:xfrm>
            <a:off x="457200" y="859971"/>
            <a:ext cx="4039318" cy="4078714"/>
          </a:xfrm>
          <a:noFill/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DA8F0-501F-889A-F811-9430118B0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4296" y="1200150"/>
            <a:ext cx="4032504" cy="3394472"/>
          </a:xfrm>
        </p:spPr>
        <p:txBody>
          <a:bodyPr lIns="91440" tIns="45720" rIns="91440" bIns="4572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1500" b="1"/>
              <a:t>Foreground–background</a:t>
            </a:r>
            <a:r>
              <a:rPr lang="zh-CN" altLang="en-US" sz="1500" b="1"/>
              <a:t> </a:t>
            </a:r>
            <a:r>
              <a:rPr lang="en-US" altLang="zh-CN" sz="1500" b="1"/>
              <a:t>mask is </a:t>
            </a:r>
            <a:r>
              <a:rPr lang="en-US" altLang="zh-CN" sz="1500"/>
              <a:t>a</a:t>
            </a:r>
            <a:r>
              <a:rPr lang="zh-CN" sz="1500"/>
              <a:t>nother innovative visualization element. The paper does not simply apply the mask behind the scenes; it </a:t>
            </a:r>
            <a:r>
              <a:rPr lang="zh-CN" sz="1500" b="1"/>
              <a:t>shows</a:t>
            </a:r>
            <a:r>
              <a:rPr lang="zh-CN" sz="1500"/>
              <a:t> how applying a mask reduces “fogging” or “blurriness” around hairlines or cheeks.</a:t>
            </a:r>
            <a:endParaRPr lang="zh-CN" altLang="en-US" sz="1500"/>
          </a:p>
          <a:p>
            <a:pPr>
              <a:lnSpc>
                <a:spcPct val="90000"/>
              </a:lnSpc>
            </a:pPr>
            <a:endParaRPr lang="zh-CN" altLang="en-US" sz="1500"/>
          </a:p>
          <a:p>
            <a:pPr>
              <a:lnSpc>
                <a:spcPct val="90000"/>
              </a:lnSpc>
            </a:pPr>
            <a:r>
              <a:rPr lang="zh-CN" sz="1500"/>
              <a:t>This helps illustrate the </a:t>
            </a:r>
            <a:r>
              <a:rPr lang="zh-CN" sz="1500" b="1"/>
              <a:t>direct impact</a:t>
            </a:r>
            <a:r>
              <a:rPr lang="zh-CN" sz="1500"/>
              <a:t> of each design choice (explicit vs. implicit constraints, masked vs. unmasked) on the final image.</a:t>
            </a:r>
          </a:p>
          <a:p>
            <a:pPr>
              <a:lnSpc>
                <a:spcPct val="90000"/>
              </a:lnSpc>
            </a:pPr>
            <a:endParaRPr lang="zh-CN" sz="1500"/>
          </a:p>
          <a:p>
            <a:pPr marL="0" indent="0">
              <a:lnSpc>
                <a:spcPct val="90000"/>
              </a:lnSpc>
              <a:buNone/>
            </a:pPr>
            <a:r>
              <a:rPr lang="zh-CN" sz="1500" b="1"/>
              <a:t>By providing side-by-side ablation</a:t>
            </a:r>
            <a:r>
              <a:rPr lang="en-US" altLang="zh-CN" sz="1500" b="1"/>
              <a:t>,</a:t>
            </a:r>
            <a:r>
              <a:rPr lang="zh-CN" altLang="en-US" sz="1500" b="1"/>
              <a:t> </a:t>
            </a:r>
            <a:r>
              <a:rPr lang="zh-CN" sz="1500" b="1"/>
              <a:t>readers see exactly how each component enhances or degrades the final render.</a:t>
            </a:r>
          </a:p>
          <a:p>
            <a:pPr>
              <a:lnSpc>
                <a:spcPct val="90000"/>
              </a:lnSpc>
            </a:pPr>
            <a:endParaRPr lang="zh-CN" altLang="en-US" sz="1500"/>
          </a:p>
        </p:txBody>
      </p:sp>
    </p:spTree>
    <p:extLst>
      <p:ext uri="{BB962C8B-B14F-4D97-AF65-F5344CB8AC3E}">
        <p14:creationId xmlns:p14="http://schemas.microsoft.com/office/powerpoint/2010/main" val="3099505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C05F9-7E39-79AE-651A-EEF1CEA7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ctr" anchorCtr="0"/>
          <a:lstStyle/>
          <a:p>
            <a:r>
              <a:rPr lang="zh-CN">
                <a:ea typeface="+mj-lt"/>
                <a:cs typeface="+mj-lt"/>
              </a:rPr>
              <a:t>Neighborhood Sampling Visualization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63BDA1-0C7C-B3A8-E487-77161D3B7E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91440" tIns="45720" rIns="91440" bIns="45720" anchor="t"/>
          <a:lstStyle/>
          <a:p>
            <a:r>
              <a:rPr lang="zh-CN" altLang="en-US" sz="1200">
                <a:cs typeface="Arial"/>
              </a:rPr>
              <a:t>Sampling latent codes around Z</a:t>
            </a:r>
            <a:r>
              <a:rPr lang="zh-CN" altLang="en-US" sz="1200" baseline="-25000">
                <a:cs typeface="Arial"/>
              </a:rPr>
              <a:t>init</a:t>
            </a:r>
            <a:r>
              <a:rPr lang="zh-CN" altLang="en-US" sz="1200">
                <a:cs typeface="Arial"/>
              </a:rPr>
              <a:t> to regularize geometry—is also illustrated by showing how the original generator vs. the finetuned generator behave for those neighbor codes.</a:t>
            </a:r>
            <a:endParaRPr lang="zh-CN" sz="1200">
              <a:cs typeface="Arial"/>
            </a:endParaRPr>
          </a:p>
          <a:p>
            <a:endParaRPr lang="zh-CN" altLang="en-US" sz="1200" dirty="0">
              <a:cs typeface="Arial"/>
            </a:endParaRPr>
          </a:p>
          <a:p>
            <a:r>
              <a:rPr lang="zh-CN" sz="1200">
                <a:cs typeface="Arial"/>
              </a:rPr>
              <a:t>By visualizing these “neighbor” outcomes, readers understand how the method enforces consistency in unobserved or partially observed regions.</a:t>
            </a:r>
          </a:p>
          <a:p>
            <a:endParaRPr lang="zh-CN" altLang="en-US" sz="1200" dirty="0">
              <a:cs typeface="Arial"/>
            </a:endParaRPr>
          </a:p>
          <a:p>
            <a:endParaRPr lang="zh-CN" altLang="en-US" sz="1200" dirty="0">
              <a:cs typeface="Arial"/>
            </a:endParaRPr>
          </a:p>
          <a:p>
            <a:pPr marL="0" indent="0" algn="just">
              <a:buNone/>
            </a:pPr>
            <a:r>
              <a:rPr lang="en-US" altLang="zh-CN" sz="1200" b="1" dirty="0">
                <a:cs typeface="Arial"/>
              </a:rPr>
              <a:t>E</a:t>
            </a:r>
            <a:r>
              <a:rPr lang="zh-CN" sz="1200" b="1">
                <a:cs typeface="Arial"/>
              </a:rPr>
              <a:t>xample of how to visualize not just the final phenomenon (a single test image) but also the latent-space manipulation that underpins the method’s success.</a:t>
            </a:r>
          </a:p>
          <a:p>
            <a:endParaRPr lang="zh-CN" altLang="en-US" dirty="0">
              <a:cs typeface="Arial"/>
            </a:endParaRPr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4DDBDEC3-FF44-DF02-A64A-05E979BC1B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70854" y="2017004"/>
            <a:ext cx="3571875" cy="876300"/>
          </a:xfrm>
        </p:spPr>
      </p:pic>
    </p:spTree>
    <p:extLst>
      <p:ext uri="{BB962C8B-B14F-4D97-AF65-F5344CB8AC3E}">
        <p14:creationId xmlns:p14="http://schemas.microsoft.com/office/powerpoint/2010/main" val="3439309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BB8C9-4704-6256-5394-AB6592B21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 lIns="91440" tIns="45720" rIns="91440" bIns="45720" anchor="ctr" anchorCtr="0">
            <a:normAutofit/>
          </a:bodyPr>
          <a:lstStyle/>
          <a:p>
            <a:r>
              <a:rPr lang="zh-CN" sz="3100"/>
              <a:t>Insights on Data Handling for Experiments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2C5C038-D3D7-40DA-4AA8-1586FBB18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1" y="1267675"/>
            <a:ext cx="4004411" cy="284560"/>
          </a:xfrm>
        </p:spPr>
        <p:txBody>
          <a:bodyPr lIns="91440" tIns="45720" rIns="91440" bIns="45720" anchor="b"/>
          <a:lstStyle/>
          <a:p>
            <a:r>
              <a:rPr lang="en-US" b="0" dirty="0">
                <a:ea typeface="+mn-lt"/>
                <a:cs typeface="+mn-lt"/>
              </a:rPr>
              <a:t>Real image animation example on the “Avengers</a:t>
            </a:r>
            <a:r>
              <a:rPr lang="en-US" altLang="zh-CN" b="0" dirty="0">
                <a:ea typeface="+mn-lt"/>
                <a:cs typeface="+mn-lt"/>
              </a:rPr>
              <a:t>”</a:t>
            </a:r>
            <a:endParaRPr lang="zh-CN" altLang="en-US" dirty="0"/>
          </a:p>
        </p:txBody>
      </p:sp>
      <p:pic>
        <p:nvPicPr>
          <p:cNvPr id="5" name="内容占位符 4" descr="一群人的照片&#10;&#10;AI 生成的内容可能不正确。">
            <a:extLst>
              <a:ext uri="{FF2B5EF4-FFF2-40B4-BE49-F238E27FC236}">
                <a16:creationId xmlns:a16="http://schemas.microsoft.com/office/drawing/2014/main" id="{B400B52B-7BCC-591D-AFAD-6A418DFA33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2" b="6005"/>
          <a:stretch/>
        </p:blipFill>
        <p:spPr>
          <a:xfrm>
            <a:off x="629841" y="1552235"/>
            <a:ext cx="3868340" cy="2763441"/>
          </a:xfrm>
          <a:noFill/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A22DD-C462-05F2-6E16-4E132DB96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1070" y="1547064"/>
            <a:ext cx="3887391" cy="2763441"/>
          </a:xfr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400" b="1" dirty="0"/>
              <a:t>P</a:t>
            </a:r>
            <a:r>
              <a:rPr lang="zh-CN" sz="1400" b="1"/>
              <a:t>retrained NeRF-GANs</a:t>
            </a:r>
            <a:r>
              <a:rPr lang="zh-CN" sz="1400"/>
              <a:t> (trained on large-scale datasets, like FFHQ or CelebA-HQ) provide strong priors for geometry and appearance. The authors emphasize that one can </a:t>
            </a:r>
            <a:r>
              <a:rPr lang="zh-CN" sz="1400" b="1"/>
              <a:t>rely on these priors</a:t>
            </a:r>
            <a:r>
              <a:rPr lang="zh-CN" sz="1400"/>
              <a:t> to fill in missing details for unseen viewpoints.</a:t>
            </a:r>
            <a:endParaRPr lang="zh-CN" sz="1400">
              <a:cs typeface="Arial"/>
            </a:endParaRPr>
          </a:p>
          <a:p>
            <a:pPr>
              <a:lnSpc>
                <a:spcPct val="90000"/>
              </a:lnSpc>
            </a:pPr>
            <a:endParaRPr lang="zh-CN" altLang="en-US" sz="1400" dirty="0">
              <a:cs typeface="Arial"/>
            </a:endParaRPr>
          </a:p>
          <a:p>
            <a:pPr>
              <a:lnSpc>
                <a:spcPct val="90000"/>
              </a:lnSpc>
            </a:pPr>
            <a:r>
              <a:rPr lang="en-US" altLang="zh-CN" sz="1400" dirty="0"/>
              <a:t>Their</a:t>
            </a:r>
            <a:r>
              <a:rPr lang="zh-CN" altLang="en-US" sz="1400" dirty="0"/>
              <a:t> </a:t>
            </a:r>
            <a:r>
              <a:rPr lang="en-US" altLang="zh-CN" sz="1400" b="1" dirty="0"/>
              <a:t>experiment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design</a:t>
            </a:r>
            <a:r>
              <a:rPr lang="zh-CN" altLang="en-US" sz="1400" dirty="0"/>
              <a:t> </a:t>
            </a:r>
            <a:r>
              <a:rPr lang="en-US" altLang="zh-CN" sz="1400" dirty="0"/>
              <a:t>consistently</a:t>
            </a:r>
            <a:r>
              <a:rPr lang="zh-CN" altLang="en-US" sz="1400" dirty="0"/>
              <a:t> </a:t>
            </a:r>
            <a:r>
              <a:rPr lang="en-US" altLang="zh-CN" sz="1400" dirty="0"/>
              <a:t>tests</a:t>
            </a:r>
            <a:r>
              <a:rPr lang="zh-CN" altLang="en-US" sz="1400" dirty="0"/>
              <a:t> </a:t>
            </a:r>
            <a:r>
              <a:rPr lang="en-US" altLang="zh-CN" sz="1400" dirty="0"/>
              <a:t>both</a:t>
            </a:r>
            <a:r>
              <a:rPr lang="zh-CN" altLang="en-US" sz="1400" dirty="0"/>
              <a:t> </a:t>
            </a:r>
            <a:r>
              <a:rPr lang="en-US" altLang="zh-CN" sz="1400" b="1" dirty="0"/>
              <a:t>in-distribution</a:t>
            </a:r>
            <a:r>
              <a:rPr lang="zh-CN" altLang="en-US" sz="1400" dirty="0"/>
              <a:t> </a:t>
            </a:r>
            <a:r>
              <a:rPr lang="en-US" altLang="zh-CN" sz="1400" dirty="0"/>
              <a:t>samples</a:t>
            </a:r>
            <a:r>
              <a:rPr lang="zh-CN" altLang="en-US" sz="1400" dirty="0"/>
              <a:t> </a:t>
            </a:r>
            <a:r>
              <a:rPr lang="en-US" altLang="zh-CN" sz="1400" dirty="0"/>
              <a:t>(images</a:t>
            </a:r>
            <a:r>
              <a:rPr lang="zh-CN" altLang="en-US" sz="1400" dirty="0"/>
              <a:t> </a:t>
            </a:r>
            <a:r>
              <a:rPr lang="en-US" altLang="zh-CN" sz="1400" dirty="0"/>
              <a:t>close</a:t>
            </a:r>
            <a:r>
              <a:rPr lang="zh-CN" altLang="en-US" sz="1400" dirty="0"/>
              <a:t> </a:t>
            </a:r>
            <a:r>
              <a:rPr lang="en-US" altLang="zh-CN" sz="1400" dirty="0"/>
              <a:t>to</a:t>
            </a:r>
            <a:r>
              <a:rPr lang="zh-CN" altLang="en-US" sz="1400" dirty="0"/>
              <a:t> </a:t>
            </a:r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US" altLang="zh-CN" sz="1400" dirty="0"/>
              <a:t>training</a:t>
            </a:r>
            <a:r>
              <a:rPr lang="zh-CN" altLang="en-US" sz="1400" dirty="0"/>
              <a:t> </a:t>
            </a:r>
            <a:r>
              <a:rPr lang="en-US" altLang="zh-CN" sz="1400" dirty="0"/>
              <a:t>set</a:t>
            </a:r>
            <a:r>
              <a:rPr lang="zh-CN" altLang="en-US" sz="1400" dirty="0"/>
              <a:t> </a:t>
            </a:r>
            <a:r>
              <a:rPr lang="en-US" altLang="zh-CN" sz="1400" dirty="0"/>
              <a:t>style)</a:t>
            </a:r>
            <a:r>
              <a:rPr lang="zh-CN" altLang="en-US" sz="1400" dirty="0"/>
              <a:t> </a:t>
            </a: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b="1" dirty="0"/>
              <a:t>out-of-distribution</a:t>
            </a:r>
            <a:r>
              <a:rPr lang="zh-CN" altLang="en-US" sz="1400" dirty="0"/>
              <a:t> </a:t>
            </a:r>
            <a:r>
              <a:rPr lang="en-US" altLang="zh-CN" sz="1400" dirty="0"/>
              <a:t>samples</a:t>
            </a:r>
            <a:r>
              <a:rPr lang="zh-CN" altLang="en-US" sz="1400" dirty="0"/>
              <a:t> </a:t>
            </a:r>
            <a:r>
              <a:rPr lang="en-US" altLang="zh-CN" sz="1400" dirty="0"/>
              <a:t>(e.g.,</a:t>
            </a:r>
            <a:r>
              <a:rPr lang="zh-CN" altLang="en-US" sz="1400" dirty="0"/>
              <a:t> </a:t>
            </a:r>
            <a:r>
              <a:rPr lang="en-US" altLang="zh-CN" sz="1400" dirty="0"/>
              <a:t>celebrities,</a:t>
            </a:r>
            <a:r>
              <a:rPr lang="zh-CN" altLang="en-US" sz="1400" dirty="0"/>
              <a:t> </a:t>
            </a:r>
            <a:r>
              <a:rPr lang="en-US" altLang="zh-CN" sz="1400" dirty="0"/>
              <a:t>photos</a:t>
            </a:r>
            <a:r>
              <a:rPr lang="zh-CN" altLang="en-US" sz="1400" dirty="0"/>
              <a:t> </a:t>
            </a:r>
            <a:r>
              <a:rPr lang="en-US" altLang="zh-CN" sz="1400" dirty="0"/>
              <a:t>under</a:t>
            </a:r>
            <a:r>
              <a:rPr lang="zh-CN" altLang="en-US" sz="1400" dirty="0"/>
              <a:t> </a:t>
            </a:r>
            <a:r>
              <a:rPr lang="en-US" altLang="zh-CN" sz="1400" dirty="0"/>
              <a:t>unusual</a:t>
            </a:r>
            <a:r>
              <a:rPr lang="zh-CN" altLang="en-US" sz="1400" dirty="0"/>
              <a:t> </a:t>
            </a:r>
            <a:r>
              <a:rPr lang="en-US" altLang="zh-CN" sz="1400" dirty="0"/>
              <a:t>conditions)</a:t>
            </a:r>
            <a:r>
              <a:rPr lang="zh-CN" altLang="en-US" sz="1400" dirty="0"/>
              <a:t> </a:t>
            </a:r>
            <a:r>
              <a:rPr lang="en-US" altLang="zh-CN" sz="1400" dirty="0"/>
              <a:t>to</a:t>
            </a:r>
            <a:r>
              <a:rPr lang="zh-CN" altLang="en-US" sz="1400" dirty="0"/>
              <a:t> </a:t>
            </a:r>
            <a:r>
              <a:rPr lang="en-US" altLang="zh-CN" sz="1400" dirty="0"/>
              <a:t>see</a:t>
            </a:r>
            <a:r>
              <a:rPr lang="zh-CN" altLang="en-US" sz="1400" dirty="0"/>
              <a:t> </a:t>
            </a:r>
            <a:r>
              <a:rPr lang="en-US" altLang="zh-CN" sz="1400" dirty="0"/>
              <a:t>how</a:t>
            </a:r>
            <a:r>
              <a:rPr lang="zh-CN" altLang="en-US" sz="1400" dirty="0"/>
              <a:t> </a:t>
            </a:r>
            <a:r>
              <a:rPr lang="en-US" altLang="zh-CN" sz="1400" dirty="0"/>
              <a:t>well</a:t>
            </a:r>
            <a:r>
              <a:rPr lang="zh-CN" altLang="en-US" sz="1400" dirty="0"/>
              <a:t> </a:t>
            </a:r>
            <a:r>
              <a:rPr lang="en-US" altLang="zh-CN" sz="1400" dirty="0"/>
              <a:t>their</a:t>
            </a:r>
            <a:r>
              <a:rPr lang="zh-CN" altLang="en-US" sz="1400" dirty="0"/>
              <a:t> </a:t>
            </a:r>
            <a:r>
              <a:rPr lang="en-US" altLang="zh-CN" sz="1400" dirty="0"/>
              <a:t>visualization</a:t>
            </a:r>
            <a:r>
              <a:rPr lang="zh-CN" altLang="en-US" sz="1400" dirty="0"/>
              <a:t> </a:t>
            </a:r>
            <a:r>
              <a:rPr lang="en-US" altLang="zh-CN" sz="1400" dirty="0"/>
              <a:t>and</a:t>
            </a:r>
            <a:r>
              <a:rPr lang="zh-CN" altLang="en-US" sz="1400" dirty="0"/>
              <a:t> </a:t>
            </a:r>
            <a:r>
              <a:rPr lang="en-US" altLang="zh-CN" sz="1400" dirty="0"/>
              <a:t>geometry</a:t>
            </a:r>
            <a:r>
              <a:rPr lang="zh-CN" altLang="en-US" sz="1400" dirty="0"/>
              <a:t> </a:t>
            </a:r>
            <a:r>
              <a:rPr lang="en-US" altLang="zh-CN" sz="1400" dirty="0"/>
              <a:t>hold</a:t>
            </a:r>
            <a:r>
              <a:rPr lang="zh-CN" altLang="en-US" sz="1400" dirty="0"/>
              <a:t> </a:t>
            </a:r>
            <a:r>
              <a:rPr lang="en-US" altLang="zh-CN" sz="1400" dirty="0"/>
              <a:t>up.</a:t>
            </a:r>
            <a:r>
              <a:rPr lang="zh-CN" altLang="en-US" sz="1400" dirty="0"/>
              <a:t> </a:t>
            </a:r>
            <a:r>
              <a:rPr lang="en-US" altLang="zh-CN" sz="1400" dirty="0"/>
              <a:t>This</a:t>
            </a:r>
            <a:r>
              <a:rPr lang="zh-CN" altLang="en-US" sz="1400" dirty="0"/>
              <a:t> </a:t>
            </a:r>
            <a:r>
              <a:rPr lang="en-US" altLang="zh-CN" sz="1400" dirty="0"/>
              <a:t>reveals</a:t>
            </a:r>
            <a:r>
              <a:rPr lang="zh-CN" altLang="en-US" sz="1400" dirty="0"/>
              <a:t> </a:t>
            </a:r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US" altLang="zh-CN" sz="1400" b="1" dirty="0"/>
              <a:t>robustness</a:t>
            </a:r>
            <a:r>
              <a:rPr lang="zh-CN" altLang="en-US" sz="1400" dirty="0"/>
              <a:t> </a:t>
            </a:r>
            <a:r>
              <a:rPr lang="en-US" altLang="zh-CN" sz="1400" dirty="0"/>
              <a:t>in</a:t>
            </a:r>
            <a:r>
              <a:rPr lang="zh-CN" altLang="en-US" sz="1400" dirty="0"/>
              <a:t> </a:t>
            </a:r>
            <a:r>
              <a:rPr lang="en-US" altLang="zh-CN" sz="1400" dirty="0"/>
              <a:t>a</a:t>
            </a:r>
            <a:r>
              <a:rPr lang="zh-CN" altLang="en-US" sz="1400" dirty="0"/>
              <a:t> </a:t>
            </a:r>
            <a:r>
              <a:rPr lang="en-US" altLang="zh-CN" sz="1400" dirty="0"/>
              <a:t>clearly</a:t>
            </a:r>
            <a:r>
              <a:rPr lang="zh-CN" altLang="en-US" sz="1400" dirty="0"/>
              <a:t> </a:t>
            </a:r>
            <a:r>
              <a:rPr lang="en-US" altLang="zh-CN" sz="1400" dirty="0"/>
              <a:t>laid-out</a:t>
            </a:r>
            <a:r>
              <a:rPr lang="zh-CN" altLang="en-US" sz="1400" dirty="0"/>
              <a:t> </a:t>
            </a:r>
            <a:r>
              <a:rPr lang="en-US" altLang="zh-CN" sz="1400" dirty="0"/>
              <a:t>comparative</a:t>
            </a:r>
            <a:r>
              <a:rPr lang="zh-CN" altLang="en-US" sz="1400" dirty="0"/>
              <a:t> </a:t>
            </a:r>
            <a:r>
              <a:rPr lang="en-US" altLang="zh-CN" sz="1400" dirty="0"/>
              <a:t>format.</a:t>
            </a:r>
            <a:endParaRPr lang="zh-CN" sz="1400" dirty="0"/>
          </a:p>
        </p:txBody>
      </p:sp>
    </p:spTree>
    <p:extLst>
      <p:ext uri="{BB962C8B-B14F-4D97-AF65-F5344CB8AC3E}">
        <p14:creationId xmlns:p14="http://schemas.microsoft.com/office/powerpoint/2010/main" val="108800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>
            <a:spLocks noGrp="1"/>
          </p:cNvSpPr>
          <p:nvPr>
            <p:ph type="body" idx="1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-GB" sz="2400"/>
              <a:t>0</a:t>
            </a:r>
            <a:r>
              <a:rPr lang="en-US" altLang="en-GB" sz="2400"/>
              <a:t>6</a:t>
            </a:r>
          </a:p>
        </p:txBody>
      </p:sp>
      <p:sp>
        <p:nvSpPr>
          <p:cNvPr id="394" name="Google Shape;394;p44"/>
          <p:cNvSpPr txBox="1">
            <a:spLocks noGrp="1"/>
          </p:cNvSpPr>
          <p:nvPr>
            <p:ph type="title"/>
          </p:nvPr>
        </p:nvSpPr>
        <p:spPr>
          <a:xfrm>
            <a:off x="1359300" y="0"/>
            <a:ext cx="64254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6000">
                <a:solidFill>
                  <a:schemeClr val="tx1"/>
                </a:solidFill>
              </a:rPr>
              <a:t>Questions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76E04C1-E1EA-1A91-15E5-F7316F907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4A896F-71AF-FBEF-AC6C-3E54638C3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342900" indent="-342900">
              <a:buAutoNum type="arabicPeriod"/>
            </a:pPr>
            <a:r>
              <a:rPr lang="zh-CN" altLang="en-US" sz="1800">
                <a:cs typeface="Arial"/>
              </a:rPr>
              <a:t>Why might purely image-level losses on a single photo lead to geometry artifacts under novel viewpoints?</a:t>
            </a:r>
            <a:endParaRPr lang="zh-CN"/>
          </a:p>
          <a:p>
            <a:pPr marL="342900" indent="-342900">
              <a:buAutoNum type="arabicPeriod"/>
            </a:pPr>
            <a:r>
              <a:rPr lang="zh-CN" sz="1800">
                <a:cs typeface="Arial"/>
              </a:rPr>
              <a:t>How do “explicit” vs. “implicit” geometric constraints each help preserve 3D consistency?</a:t>
            </a:r>
          </a:p>
          <a:p>
            <a:pPr marL="342900" indent="-342900">
              <a:buAutoNum type="arabicPeriod"/>
            </a:pPr>
            <a:r>
              <a:rPr lang="zh-CN" sz="1800">
                <a:cs typeface="Arial"/>
              </a:rPr>
              <a:t>Why sample latent codes near z</a:t>
            </a:r>
            <a:r>
              <a:rPr lang="zh-CN" sz="1800" baseline="-25000">
                <a:cs typeface="Arial"/>
              </a:rPr>
              <a:t>init</a:t>
            </a:r>
            <a:r>
              <a:rPr lang="zh-CN" sz="1800">
                <a:cs typeface="Arial"/>
              </a:rPr>
              <a:t> instead of using random distant codes?</a:t>
            </a:r>
          </a:p>
          <a:p>
            <a:pPr marL="342900" indent="-342900">
              <a:buAutoNum type="arabicPeriod"/>
            </a:pPr>
            <a:r>
              <a:rPr lang="zh-CN" sz="1800">
                <a:cs typeface="Arial"/>
              </a:rPr>
              <a:t>Can we apply this single-image inversion method to objects beyond faces, such as full bodies or arbitrary scenes?</a:t>
            </a:r>
          </a:p>
          <a:p>
            <a:pPr marL="342900" indent="-342900">
              <a:buAutoNum type="arabicPeriod"/>
            </a:pPr>
            <a:r>
              <a:rPr lang="zh-CN" sz="1800">
                <a:cs typeface="Arial"/>
              </a:rPr>
              <a:t>What are the biggest limitations or future directions for this approach (e.g., data requirements, model complexity)?</a:t>
            </a:r>
          </a:p>
          <a:p>
            <a:pPr marL="342900" indent="-342900">
              <a:buAutoNum type="arabicPeriod"/>
            </a:pPr>
            <a:r>
              <a:rPr lang="en-US" altLang="zh-CN" sz="1800">
                <a:ea typeface="+mn-lt"/>
                <a:cs typeface="+mn-lt"/>
              </a:rPr>
              <a:t>Do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you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think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that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there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are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ethical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implications</a:t>
            </a:r>
            <a:r>
              <a:rPr lang="zh-CN" altLang="en-US" sz="1800">
                <a:ea typeface="+mn-lt"/>
                <a:cs typeface="+mn-lt"/>
              </a:rPr>
              <a:t> </a:t>
            </a:r>
            <a:r>
              <a:rPr lang="en-US" altLang="zh-CN" sz="1800">
                <a:ea typeface="+mn-lt"/>
                <a:cs typeface="+mn-lt"/>
              </a:rPr>
              <a:t>that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need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to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be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taken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into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consideration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with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the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improvement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of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 err="1">
                <a:ea typeface="+mn-lt"/>
                <a:cs typeface="+mn-lt"/>
              </a:rPr>
              <a:t>NeRF</a:t>
            </a:r>
            <a:r>
              <a:rPr lang="en-US" altLang="zh-CN" sz="1800">
                <a:ea typeface="+mn-lt"/>
                <a:cs typeface="+mn-lt"/>
              </a:rPr>
              <a:t>-GAN</a:t>
            </a:r>
            <a:r>
              <a:rPr lang="zh-CN" altLang="en-US" sz="1800">
                <a:ea typeface="+mn-lt"/>
                <a:cs typeface="+mn-lt"/>
              </a:rPr>
              <a:t> </a:t>
            </a:r>
            <a:r>
              <a:rPr lang="en-US" altLang="zh-CN" sz="1800">
                <a:ea typeface="+mn-lt"/>
                <a:cs typeface="+mn-lt"/>
              </a:rPr>
              <a:t>methods?</a:t>
            </a:r>
            <a:endParaRPr lang="zh-CN" sz="1800">
              <a:cs typeface="Arial"/>
            </a:endParaRPr>
          </a:p>
          <a:p>
            <a:pPr>
              <a:buAutoNum type="arabicPeriod"/>
            </a:pPr>
            <a:endParaRPr lang="zh-CN" alt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886895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D3F906357D8C40A05F0176F2270F0D" ma:contentTypeVersion="4" ma:contentTypeDescription="Create a new document." ma:contentTypeScope="" ma:versionID="c22cf5044ed78ed27a3fb963d7192501">
  <xsd:schema xmlns:xsd="http://www.w3.org/2001/XMLSchema" xmlns:xs="http://www.w3.org/2001/XMLSchema" xmlns:p="http://schemas.microsoft.com/office/2006/metadata/properties" xmlns:ns2="63eb6b07-5573-4e96-bcc6-0734833d05d4" targetNamespace="http://schemas.microsoft.com/office/2006/metadata/properties" ma:root="true" ma:fieldsID="cc7140f25bdb8eaeec95acdefade9ca2" ns2:_="">
    <xsd:import namespace="63eb6b07-5573-4e96-bcc6-0734833d05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eb6b07-5573-4e96-bcc6-0734833d05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A67062-9560-424B-9DE9-3E73F0E3F4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9C6D46-B4CD-4CC9-A8C4-22F7306D0207}">
  <ds:schemaRefs>
    <ds:schemaRef ds:uri="63eb6b07-5573-4e96-bcc6-0734833d05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C2D2157-56D2-41E1-8B4D-902304A62FD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27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Default Design</vt:lpstr>
      <vt:lpstr>NeRFInvertor: High Fidelity NeRF-GAN Inversion   for Single-shot Real Image Animation  </vt:lpstr>
      <vt:lpstr>Contents</vt:lpstr>
      <vt:lpstr>Motivations</vt:lpstr>
      <vt:lpstr>Image Animation</vt:lpstr>
      <vt:lpstr>Artifacts</vt:lpstr>
      <vt:lpstr>Identity Gap</vt:lpstr>
      <vt:lpstr>Data Used</vt:lpstr>
      <vt:lpstr>Data Used</vt:lpstr>
      <vt:lpstr>Key Insights</vt:lpstr>
      <vt:lpstr>PowerPoint Presentation</vt:lpstr>
      <vt:lpstr>PowerPoint Presentation</vt:lpstr>
      <vt:lpstr>Visualizations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Learned</vt:lpstr>
      <vt:lpstr>Single-Image to 3D Visualization Workflow</vt:lpstr>
      <vt:lpstr>Comparison of Color and Density Fields</vt:lpstr>
      <vt:lpstr>Side-by-Side Novel View Comparisons</vt:lpstr>
      <vt:lpstr>Foreground Masking &amp; Ablation Visuals</vt:lpstr>
      <vt:lpstr>Neighborhood Sampling Visualization</vt:lpstr>
      <vt:lpstr>Insights on Data Handling for Experiments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NeRFInvertor: High Fidelity NeRF-GAN Inversion for Single-shot Real Image Animation</dc:title>
  <dc:creator/>
  <cp:revision>327</cp:revision>
  <dcterms:created xsi:type="dcterms:W3CDTF">2025-02-18T04:39:59Z</dcterms:created>
  <dcterms:modified xsi:type="dcterms:W3CDTF">2025-03-04T03:05:18Z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ContentTypeId">
    <vt:lpwstr>0x01010040D3F906357D8C40A05F0176F2270F0D</vt:lpwstr>
  </property>
</Properties>
</file>